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00:00–00:07 | 7 seconds</a:t>
            </a:r>
          </a:p>
          <a:p/>
          <a:p>
            <a:r>
              <a:t>한국어</a:t>
            </a:r>
          </a:p>
          <a:p>
            <a:r>
              <a:t>안녕하세요. AI가 코드를 직접 고치고 검증하는 성능 최적화 솔루션, AgenticRocket입니다.</a:t>
            </a:r>
          </a:p>
          <a:p/>
          <a:p>
            <a:r>
              <a:t>English</a:t>
            </a:r>
          </a:p>
          <a:p>
            <a:r>
              <a:t>Meet AgenticRocket: an AI performance engineer that changes code and verifies the improvement.</a:t>
            </a:r>
          </a:p>
          <a:p/>
          <a:p>
            <a:r>
              <a:t>발표 팁</a:t>
            </a:r>
          </a:p>
          <a:p>
            <a:r>
              <a:t>제품명 뒤 잠깐 멈추고 다음 장으로 전환한다.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00:07–00:18 | 11 seconds</a:t>
            </a:r>
          </a:p>
          <a:p/>
          <a:p>
            <a:r>
              <a:t>한국어</a:t>
            </a:r>
          </a:p>
          <a:p>
            <a:r>
              <a:t>바이브코딩 덕분에 AI와 대화하며 프로덕트를 만드는 일이 쉬워졌습니다. 새로운 프로덕트도 매일 쏟아집니다.</a:t>
            </a:r>
          </a:p>
          <a:p/>
          <a:p>
            <a:r>
              <a:t>English</a:t>
            </a:r>
          </a:p>
          <a:p>
            <a:r>
              <a:t>Vibe coding makes it easier to build a product by talking to AI. New products keep appearing every day.</a:t>
            </a:r>
          </a:p>
          <a:p/>
          <a:p>
            <a:r>
              <a:t>발표 팁</a:t>
            </a:r>
          </a:p>
          <a:p>
            <a:r>
              <a:t>“만드는 일은 쉬워졌다”만 전달하고 길게 설명하지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00:18–00:32 | 14 seconds</a:t>
            </a:r>
          </a:p>
          <a:p/>
          <a:p>
            <a:r>
              <a:t>한국어</a:t>
            </a:r>
          </a:p>
          <a:p>
            <a:r>
              <a:t>차별점은 어디서 만들까요? 기획, UI, UX를 고민하지만, 사용자가 기다리는 시간도 UX입니다. 같은 기능이라면 바로 반응하는 제품이 좋겠죠. 최적화도 사용자 경험의 일부입니다.</a:t>
            </a:r>
          </a:p>
          <a:p/>
          <a:p>
            <a:r>
              <a:t>English</a:t>
            </a:r>
          </a:p>
          <a:p>
            <a:r>
              <a:t>How does a product stand out? We think about the idea, UI, and UX. But waiting is part of UX, too. A responsive product feels better. Performance matters.</a:t>
            </a:r>
          </a:p>
          <a:p/>
          <a:p>
            <a:r>
              <a:t>발표 팁</a:t>
            </a:r>
          </a:p>
          <a:p>
            <a:r>
              <a:t>오른쪽 UX 영역 안의 성능을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00:32–00:44 | 12 seconds</a:t>
            </a:r>
          </a:p>
          <a:p/>
          <a:p>
            <a:r>
              <a:t>한국어</a:t>
            </a:r>
          </a:p>
          <a:p>
            <a:r>
              <a:t>작동하기만 하면 끝일까요? 이 비둘기도 일단 날아가긴 합니다. 하지만 우리가 원하는 건, 의도한 방식으로 제대로, 그리고 빠르게 움직이는 제품입니다.</a:t>
            </a:r>
          </a:p>
          <a:p/>
          <a:p>
            <a:r>
              <a:t>English</a:t>
            </a:r>
          </a:p>
          <a:p>
            <a:r>
              <a:t>Is working enough? This pigeon does fly, in its own way. What we want is software that behaves as intended, and does it fast.</a:t>
            </a:r>
          </a:p>
          <a:p/>
          <a:p>
            <a:r>
              <a:t>발표 팁</a:t>
            </a:r>
          </a:p>
          <a:p>
            <a:r>
              <a:t>비둘기 그림을 보여주고 청중이 볼 시간을 짧게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00:44–01:01 | 17 seconds</a:t>
            </a:r>
          </a:p>
          <a:p/>
          <a:p>
            <a:r>
              <a:t>한국어</a:t>
            </a:r>
          </a:p>
          <a:p>
            <a:r>
              <a:t>빨라졌다는 말에는 검증이 필요합니다. 원본과 수정본을 반복 실행하고 기능도 확인해야 하죠. 로컬 측정은 시간이 걸리고 다른 작업의 간섭도 받습니다. 외부 환경에서 검증하면 내 컴퓨터에서는 개발을 계속할 수 있습니다.</a:t>
            </a:r>
          </a:p>
          <a:p/>
          <a:p>
            <a:r>
              <a:t>English</a:t>
            </a:r>
          </a:p>
          <a:p>
            <a:r>
              <a:t>A speedup needs evidence: repeated comparisons and behavior checks. Local tests take time, and other work can affect the measurements. Remote verification lets us keep developing on our own machine.</a:t>
            </a:r>
          </a:p>
          <a:p/>
          <a:p>
            <a:r>
              <a:t>발표 팁</a:t>
            </a:r>
          </a:p>
          <a:p>
            <a:r>
              <a:t>로컬의 자원 경쟁과 외부 실행의 작업 분리를 설명한다. 외부 환경만으로 측정 정확도가 보장된다는 표현은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01:01–01:15 | 14 seconds</a:t>
            </a:r>
          </a:p>
          <a:p/>
          <a:p>
            <a:r>
              <a:t>한국어</a:t>
            </a:r>
          </a:p>
          <a:p>
            <a:r>
              <a:t>보안에는 Strix, Snyk, Semgrep처럼 문제를 찾고 수정을 돕는 서비스들이 있습니다. 성능 최적화도 에이전트에게 맡겨, 병목을 고친 코드와 검증 결과를 받을 수 있지 않을까요?</a:t>
            </a:r>
          </a:p>
          <a:p/>
          <a:p>
            <a:r>
              <a:t>English</a:t>
            </a:r>
          </a:p>
          <a:p>
            <a:r>
              <a:t>Strix, Snyk, and Semgrep help find and fix security issues. Could an agent handle performance optimization, too, returning a code change and the evidence behind it?</a:t>
            </a:r>
          </a:p>
          <a:p/>
          <a:p>
            <a:r>
              <a:t>발표 팁</a:t>
            </a:r>
          </a:p>
          <a:p>
            <a:r>
              <a:t>서비스 이름은 한 번에 읽는다. 경쟁 제품이 없다는 주장 대신 성능 최적화의 위임으로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01:15–01:28 | 13 seconds</a:t>
            </a:r>
          </a:p>
          <a:p/>
          <a:p>
            <a:r>
              <a:t>한국어</a:t>
            </a:r>
          </a:p>
          <a:p>
            <a:r>
              <a:t>그래서 Daytona 위에 AgenticRocket을 만들었습니다. 빠른 환경 준비와 손쉬운 도구 연결 덕분에, 에이전트가 코드를 고치고 실행할 공간을 구성하기 좋았습니다.</a:t>
            </a:r>
          </a:p>
          <a:p/>
          <a:p>
            <a:r>
              <a:t>English</a:t>
            </a:r>
          </a:p>
          <a:p>
            <a:r>
              <a:t>We built AgenticRocket on Daytona. Its fast sandbox setup and agent-friendly tools give the AI a workspace to inspect, change, and run code.</a:t>
            </a:r>
          </a:p>
          <a:p/>
          <a:p>
            <a:r>
              <a:t>발표 팁</a:t>
            </a:r>
          </a:p>
          <a:p>
            <a:r>
              <a:t>Daytona의 연결·실행·에이전트 도구 세 항목을 짚고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01:28–01:52 | 24 seconds</a:t>
            </a:r>
          </a:p>
          <a:p/>
          <a:p>
            <a:r>
              <a:t>한국어</a:t>
            </a:r>
          </a:p>
          <a:p>
            <a:r>
              <a:t>GPT 같은 에이전트가 코드를 탐색하고 개선 가설을 세워 소스를 직접 수정합니다. 같은 에이전트가 프로젝트 맥락을 유지합니다. 이어서 Daytona 샌드박스 여러 개를 병렬로 실행합니다. 각 환경에서 같은 수정안을 원본과 반복 비교하고, 기능 검사와 성능 측정으로 개선 여부를 판단합니다.</a:t>
            </a:r>
          </a:p>
          <a:p/>
          <a:p>
            <a:r>
              <a:t>English</a:t>
            </a:r>
          </a:p>
          <a:p>
            <a:r>
              <a:t>An agent such as GPT explores the code, forms a hypothesis, and edits the source while keeping the project context. Multiple Daytona sandboxes then run in parallel. Each repeatedly compares the same patch against the original, checking behavior and measuring performance.</a:t>
            </a:r>
          </a:p>
          <a:p/>
          <a:p>
            <a:r>
              <a:t>발표 팁</a:t>
            </a:r>
          </a:p>
          <a:p>
            <a:r>
              <a:t>왼쪽의 한 에이전트에서 오른쪽의 여러 검증 환경으로 이어지는 흐름을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01:52–02:08 | 16 seconds</a:t>
            </a:r>
          </a:p>
          <a:p/>
          <a:p>
            <a:r>
              <a:t>한국어</a:t>
            </a:r>
          </a:p>
          <a:p>
            <a:r>
              <a:t>프로젝트를 등록하고 목표를 정하면, 에이전트가 최적화를 진행해 수정 코드와 검증 결과를 돌려줍니다. 무엇이 달라졌는지 확인하고 변경을 받아들일지 결정하면 됩니다.</a:t>
            </a:r>
          </a:p>
          <a:p/>
          <a:p>
            <a:r>
              <a:t>English</a:t>
            </a:r>
          </a:p>
          <a:p>
            <a:r>
              <a:t>Add a project and set a goal. The agent returns a patch and verification results. Review what changed and how it performed, then decide whether to adopt it.</a:t>
            </a:r>
          </a:p>
          <a:p/>
          <a:p>
            <a:r>
              <a:t>발표 팁</a:t>
            </a:r>
          </a:p>
          <a:p>
            <a:r>
              <a:t>프로젝트 입력과 수정 코드·검증 결과 두 산출물을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02:08–02:23 | 15 seconds</a:t>
            </a:r>
          </a:p>
          <a:p/>
          <a:p>
            <a:r>
              <a:t>한국어</a:t>
            </a:r>
          </a:p>
          <a:p>
            <a:r>
              <a:t>첫 고객은 성능 개선이 필요한 시스템·네이티브 소프트웨어 개발팀입니다. 수익 모델은 크레딧 충전입니다. 고객이 크레딧을 구매하고, 최적화와 검증을 실행한 사용량만큼 차감하는 방식입니다.</a:t>
            </a:r>
          </a:p>
          <a:p/>
          <a:p>
            <a:r>
              <a:t>English</a:t>
            </a:r>
          </a:p>
          <a:p>
            <a:r>
              <a:t>We’ll start with systems and native software teams that need better performance. Revenue comes from prepaid credits: customers top up, then spend credits on optimization and verification, based on usage.</a:t>
            </a:r>
          </a:p>
          <a:p/>
          <a:p>
            <a:r>
              <a:t>발표 팁</a:t>
            </a:r>
          </a:p>
          <a:p>
            <a:r>
              <a:t>초기 타깃과 크레딧 충전 모델만 짧게 설명한다. 가격이나 아직 정하지 않은 과금 단위는 덧붙이지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02:23–03:00 | 37 seconds</a:t>
            </a:r>
          </a:p>
          <a:p/>
          <a:p>
            <a:r>
              <a:t>한국어</a:t>
            </a:r>
          </a:p>
          <a:p>
            <a:r>
              <a:t>이제 실제 데모를 보시겠습니다. QR로 접속하실 수 있습니다. AI가 고친 코드와 검증 결과를 확인해보죠.</a:t>
            </a:r>
          </a:p>
          <a:p/>
          <a:p>
            <a:r>
              <a:t>English</a:t>
            </a:r>
          </a:p>
          <a:p>
            <a:r>
              <a:t>Let’s see it in action. Scan the QR code to open the demo. We’ll look at the patch and verification results.</a:t>
            </a:r>
          </a:p>
          <a:p/>
          <a:p>
            <a:r>
              <a:t>발표 팁</a:t>
            </a:r>
          </a:p>
          <a:p>
            <a:r>
              <a:t>02:23–02:30 전환 멘트. 02:30–03:00 실제 웹 데모: 목표와 프로젝트 → 실제 코드 변경 → 기능 검사와 측정 결과. QR을 스캔하거나 클릭해 https://jungwuk.jungwuk.com 에 접속한다. 숫자는 화면에서 확인되는 실제 결과만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ungwuk.jungwuk.com" TargetMode="Externa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D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3D5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C3D0CB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C3D0CB"/>
                </a:solidFill>
                <a:latin typeface="Pretendard"/>
                <a:ea typeface="Pretendard"/>
              </a:rPr>
              <a:t>AI PERFORMANCE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C3D0CB"/>
                </a:solidFill>
                <a:latin typeface="Pretendard"/>
                <a:ea typeface="Pretendard"/>
              </a:rPr>
              <a:t>01 / 11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36600" y="584200"/>
            <a:ext cx="368300" cy="368300"/>
          </a:xfrm>
          <a:prstGeom prst="line">
            <a:avLst/>
          </a:prstGeom>
          <a:ln w="55244">
            <a:solidFill>
              <a:srgbClr val="F877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20750" y="584200"/>
            <a:ext cx="184150" cy="0"/>
          </a:xfrm>
          <a:prstGeom prst="line">
            <a:avLst/>
          </a:prstGeom>
          <a:ln w="55244">
            <a:solidFill>
              <a:srgbClr val="F877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04900" y="584200"/>
            <a:ext cx="0" cy="184150"/>
          </a:xfrm>
          <a:prstGeom prst="line">
            <a:avLst/>
          </a:prstGeom>
          <a:ln w="55244">
            <a:solidFill>
              <a:srgbClr val="F877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1955800"/>
            <a:ext cx="10820400" cy="12075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322"/>
              </a:lnSpc>
              <a:spcBef>
                <a:spcPts val="0"/>
              </a:spcBef>
              <a:spcAft>
                <a:spcPts val="0"/>
              </a:spcAft>
            </a:pPr>
            <a:r>
              <a:rPr sz="7300" b="1" lang="en-US">
                <a:solidFill>
                  <a:srgbClr val="F7F5EF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300" y="3644900"/>
            <a:ext cx="10718800" cy="5863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47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F7F5EF"/>
                </a:solidFill>
                <a:latin typeface="Pretendard"/>
                <a:ea typeface="Pretendard"/>
              </a:rPr>
              <a:t>코드를 고치고, 성능을 검증하는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4356100"/>
            <a:ext cx="10718800" cy="525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00" b="0" lang="en-US">
                <a:solidFill>
                  <a:srgbClr val="B9E5CE"/>
                </a:solidFill>
                <a:latin typeface="Pretendard"/>
                <a:ea typeface="Pretendard"/>
              </a:rPr>
              <a:t>AI that optimizes code and verifies the gain.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5575300"/>
            <a:ext cx="44704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ko-KR">
                <a:solidFill>
                  <a:srgbClr val="C3D0CB"/>
                </a:solidFill>
                <a:latin typeface="Pretendard"/>
                <a:ea typeface="Pretendard"/>
              </a:rPr>
              <a:t>로우레벨 성능 최적화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5600700"/>
            <a:ext cx="68326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C3D0CB"/>
                </a:solidFill>
                <a:latin typeface="Pretendard"/>
                <a:ea typeface="Pretendard"/>
              </a:rPr>
              <a:t>Low-level performance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536665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THE VIBE-CODING 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02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508000"/>
            <a:ext cx="1607480" cy="359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38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536665"/>
                </a:solidFill>
                <a:latin typeface="Pretendard"/>
                <a:ea typeface="Pretendard"/>
              </a:rPr>
              <a:t>바이브코딩의 시대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3780" y="520700"/>
            <a:ext cx="1898451" cy="343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3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536665"/>
                </a:solidFill>
                <a:latin typeface="Pretendard"/>
                <a:ea typeface="Pretendard"/>
              </a:rPr>
              <a:t>The vibe-coding 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358900"/>
            <a:ext cx="7073900" cy="1511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376"/>
              </a:lnSpc>
              <a:spcBef>
                <a:spcPts val="0"/>
              </a:spcBef>
              <a:spcAft>
                <a:spcPts val="0"/>
              </a:spcAft>
            </a:pPr>
            <a:r>
              <a:rPr sz="4800" b="1" lang="ko-KR">
                <a:solidFill>
                  <a:srgbClr val="172E30"/>
                </a:solidFill>
                <a:latin typeface="Pretendard"/>
                <a:ea typeface="Pretendard"/>
              </a:rPr>
              <a:t>만드는 일은</a:t>
            </a:r>
          </a:p>
          <a:p>
            <a:pPr>
              <a:lnSpc>
                <a:spcPts val="5376"/>
              </a:lnSpc>
              <a:spcBef>
                <a:spcPts val="0"/>
              </a:spcBef>
              <a:spcAft>
                <a:spcPts val="0"/>
              </a:spcAft>
            </a:pPr>
            <a:r>
              <a:rPr sz="4800" b="1" lang="ko-KR">
                <a:solidFill>
                  <a:srgbClr val="172E30"/>
                </a:solidFill>
                <a:latin typeface="Pretendard"/>
                <a:ea typeface="Pretendard"/>
              </a:rPr>
              <a:t>쉬워졌습니다.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3124200"/>
            <a:ext cx="7137400" cy="10793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61"/>
              </a:lnSpc>
              <a:spcBef>
                <a:spcPts val="0"/>
              </a:spcBef>
              <a:spcAft>
                <a:spcPts val="0"/>
              </a:spcAft>
            </a:pPr>
            <a:r>
              <a:rPr sz="3300" b="0" lang="en-US">
                <a:solidFill>
                  <a:srgbClr val="536665"/>
                </a:solidFill>
                <a:latin typeface="Pretendard"/>
                <a:ea typeface="Pretendard"/>
              </a:rPr>
              <a:t>Building products</a:t>
            </a:r>
          </a:p>
          <a:p>
            <a:pPr>
              <a:lnSpc>
                <a:spcPts val="3761"/>
              </a:lnSpc>
              <a:spcBef>
                <a:spcPts val="0"/>
              </a:spcBef>
              <a:spcAft>
                <a:spcPts val="0"/>
              </a:spcAft>
            </a:pPr>
            <a:r>
              <a:rPr sz="3300" b="0" lang="en-US">
                <a:solidFill>
                  <a:srgbClr val="536665"/>
                </a:solidFill>
                <a:latin typeface="Pretendard"/>
                <a:ea typeface="Pretendard"/>
              </a:rPr>
              <a:t>is getting easier.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5003800"/>
            <a:ext cx="107569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1" lang="ko-KR">
                <a:solidFill>
                  <a:srgbClr val="172E30"/>
                </a:solidFill>
                <a:latin typeface="Pretendard"/>
                <a:ea typeface="Pretendard"/>
              </a:rPr>
              <a:t>새로운 프로덕트가 매일 쏟아집니다.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5524500"/>
            <a:ext cx="107569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0" lang="en-US">
                <a:solidFill>
                  <a:srgbClr val="536665"/>
                </a:solidFill>
                <a:latin typeface="Pretendard"/>
                <a:ea typeface="Pretendard"/>
              </a:rPr>
              <a:t>New products launch every 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94700" y="1828800"/>
            <a:ext cx="2946400" cy="1854200"/>
          </a:xfrm>
          <a:prstGeom prst="roundRect">
            <a:avLst>
              <a:gd name="adj" fmla="val 6164"/>
            </a:avLst>
          </a:prstGeom>
          <a:solidFill>
            <a:srgbClr val="E6EDE5"/>
          </a:solidFill>
          <a:ln w="12700">
            <a:solidFill>
              <a:srgbClr val="CDD4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394700" y="2171700"/>
            <a:ext cx="2946400" cy="0"/>
          </a:xfrm>
          <a:prstGeom prst="line">
            <a:avLst/>
          </a:prstGeom>
          <a:ln w="1016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547100" y="1955800"/>
            <a:ext cx="63500" cy="63500"/>
          </a:xfrm>
          <a:prstGeom prst="ellipse">
            <a:avLst/>
          </a:prstGeom>
          <a:solidFill>
            <a:srgbClr val="CDD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99500" y="1955800"/>
            <a:ext cx="63500" cy="63500"/>
          </a:xfrm>
          <a:prstGeom prst="ellipse">
            <a:avLst/>
          </a:prstGeom>
          <a:solidFill>
            <a:srgbClr val="CDD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51900" y="1955800"/>
            <a:ext cx="63500" cy="63500"/>
          </a:xfrm>
          <a:prstGeom prst="ellipse">
            <a:avLst/>
          </a:prstGeom>
          <a:solidFill>
            <a:srgbClr val="CDD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23300" y="2451100"/>
            <a:ext cx="1620520" cy="114300"/>
          </a:xfrm>
          <a:prstGeom prst="roundRect">
            <a:avLst>
              <a:gd name="adj" fmla="val 44444"/>
            </a:avLst>
          </a:prstGeom>
          <a:solidFill>
            <a:srgbClr val="88A8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23300" y="2717800"/>
            <a:ext cx="2121408" cy="76200"/>
          </a:xfrm>
          <a:prstGeom prst="roundRect">
            <a:avLst>
              <a:gd name="adj" fmla="val 50000"/>
            </a:avLst>
          </a:prstGeom>
          <a:solidFill>
            <a:srgbClr val="CDD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23300" y="2921000"/>
            <a:ext cx="1266952" cy="76200"/>
          </a:xfrm>
          <a:prstGeom prst="roundRect">
            <a:avLst>
              <a:gd name="adj" fmla="val 50000"/>
            </a:avLst>
          </a:prstGeom>
          <a:solidFill>
            <a:srgbClr val="CDD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23300" y="3263900"/>
            <a:ext cx="2489200" cy="177800"/>
          </a:xfrm>
          <a:prstGeom prst="roundRect">
            <a:avLst>
              <a:gd name="adj" fmla="val 35714"/>
            </a:avLst>
          </a:prstGeom>
          <a:solidFill>
            <a:srgbClr val="E6E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37500" y="2362200"/>
            <a:ext cx="2946400" cy="226060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CDD4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937500" y="2705100"/>
            <a:ext cx="2946400" cy="0"/>
          </a:xfrm>
          <a:prstGeom prst="line">
            <a:avLst/>
          </a:prstGeom>
          <a:ln w="1016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8089900" y="2489200"/>
            <a:ext cx="63500" cy="63500"/>
          </a:xfrm>
          <a:prstGeom prst="ellipse">
            <a:avLst/>
          </a:prstGeom>
          <a:solidFill>
            <a:srgbClr val="CDD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42300" y="2489200"/>
            <a:ext cx="63500" cy="63500"/>
          </a:xfrm>
          <a:prstGeom prst="ellipse">
            <a:avLst/>
          </a:prstGeom>
          <a:solidFill>
            <a:srgbClr val="CDD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94700" y="2489200"/>
            <a:ext cx="63500" cy="63500"/>
          </a:xfrm>
          <a:prstGeom prst="ellipse">
            <a:avLst/>
          </a:prstGeom>
          <a:solidFill>
            <a:srgbClr val="CDD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66100" y="2984500"/>
            <a:ext cx="1620520" cy="114300"/>
          </a:xfrm>
          <a:prstGeom prst="roundRect">
            <a:avLst>
              <a:gd name="adj" fmla="val 44444"/>
            </a:avLst>
          </a:prstGeom>
          <a:solidFill>
            <a:srgbClr val="BD4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66100" y="3251200"/>
            <a:ext cx="2121408" cy="76200"/>
          </a:xfrm>
          <a:prstGeom prst="roundRect">
            <a:avLst>
              <a:gd name="adj" fmla="val 50000"/>
            </a:avLst>
          </a:prstGeom>
          <a:solidFill>
            <a:srgbClr val="CDD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66100" y="3454400"/>
            <a:ext cx="1266952" cy="76200"/>
          </a:xfrm>
          <a:prstGeom prst="roundRect">
            <a:avLst>
              <a:gd name="adj" fmla="val 50000"/>
            </a:avLst>
          </a:prstGeom>
          <a:solidFill>
            <a:srgbClr val="CDD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66100" y="3797300"/>
            <a:ext cx="2489200" cy="584200"/>
          </a:xfrm>
          <a:prstGeom prst="roundRect">
            <a:avLst>
              <a:gd name="adj" fmla="val 10869"/>
            </a:avLst>
          </a:prstGeom>
          <a:solidFill>
            <a:srgbClr val="E6E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10058400" y="4000500"/>
            <a:ext cx="546100" cy="546100"/>
          </a:xfrm>
          <a:prstGeom prst="line">
            <a:avLst/>
          </a:prstGeom>
          <a:ln w="81915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331450" y="4000500"/>
            <a:ext cx="273050" cy="0"/>
          </a:xfrm>
          <a:prstGeom prst="line">
            <a:avLst/>
          </a:prstGeom>
          <a:ln w="81915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604500" y="4000500"/>
            <a:ext cx="0" cy="273050"/>
          </a:xfrm>
          <a:prstGeom prst="line">
            <a:avLst/>
          </a:prstGeom>
          <a:ln w="81915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D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3D5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C3D0CB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C3D0CB"/>
                </a:solidFill>
                <a:latin typeface="Pretendard"/>
                <a:ea typeface="Pretendard"/>
              </a:rPr>
              <a:t>PERFORMANCE IS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C3D0CB"/>
                </a:solidFill>
                <a:latin typeface="Pretendard"/>
                <a:ea typeface="Pretendard"/>
              </a:rPr>
              <a:t>03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508000"/>
            <a:ext cx="2092622" cy="359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38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C3D0CB"/>
                </a:solidFill>
                <a:latin typeface="Pretendard"/>
                <a:ea typeface="Pretendard"/>
              </a:rPr>
              <a:t>무엇으로 차별화할까요?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8922" y="520700"/>
            <a:ext cx="3120429" cy="343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3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C3D0CB"/>
                </a:solidFill>
                <a:latin typeface="Pretendard"/>
                <a:ea typeface="Pretendard"/>
              </a:rPr>
              <a:t>What makes a product stand out?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36700"/>
            <a:ext cx="5613400" cy="16583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936"/>
              </a:lnSpc>
              <a:spcBef>
                <a:spcPts val="0"/>
              </a:spcBef>
              <a:spcAft>
                <a:spcPts val="0"/>
              </a:spcAft>
            </a:pPr>
            <a:r>
              <a:rPr sz="5300" b="1" lang="ko-KR">
                <a:solidFill>
                  <a:srgbClr val="F7F5EF"/>
                </a:solidFill>
                <a:latin typeface="Pretendard"/>
                <a:ea typeface="Pretendard"/>
              </a:rPr>
              <a:t>최적화도</a:t>
            </a:r>
          </a:p>
          <a:p>
            <a:pPr>
              <a:lnSpc>
                <a:spcPts val="5936"/>
              </a:lnSpc>
              <a:spcBef>
                <a:spcPts val="0"/>
              </a:spcBef>
              <a:spcAft>
                <a:spcPts val="0"/>
              </a:spcAft>
            </a:pPr>
            <a:r>
              <a:rPr sz="5300" b="1" lang="ko-KR">
                <a:solidFill>
                  <a:srgbClr val="F7F5EF"/>
                </a:solidFill>
                <a:latin typeface="Pretendard"/>
                <a:ea typeface="Pretendard"/>
              </a:rPr>
              <a:t>UX입니다.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3505200"/>
            <a:ext cx="5575300" cy="11089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76"/>
              </a:lnSpc>
              <a:spcBef>
                <a:spcPts val="0"/>
              </a:spcBef>
              <a:spcAft>
                <a:spcPts val="0"/>
              </a:spcAft>
            </a:pPr>
            <a:r>
              <a:rPr sz="3400" b="0" lang="en-US">
                <a:solidFill>
                  <a:srgbClr val="B9E5CE"/>
                </a:solidFill>
                <a:latin typeface="Pretendard"/>
                <a:ea typeface="Pretendard"/>
              </a:rPr>
              <a:t>Performance</a:t>
            </a:r>
          </a:p>
          <a:p>
            <a:pPr>
              <a:lnSpc>
                <a:spcPts val="3876"/>
              </a:lnSpc>
              <a:spcBef>
                <a:spcPts val="0"/>
              </a:spcBef>
              <a:spcAft>
                <a:spcPts val="0"/>
              </a:spcAft>
            </a:pPr>
            <a:r>
              <a:rPr sz="3400" b="0" lang="en-US">
                <a:solidFill>
                  <a:srgbClr val="B9E5CE"/>
                </a:solidFill>
                <a:latin typeface="Pretendard"/>
                <a:ea typeface="Pretendard"/>
              </a:rPr>
              <a:t>is part of UX.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7700" y="1600200"/>
            <a:ext cx="4483100" cy="5560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19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ko-KR">
                <a:solidFill>
                  <a:srgbClr val="C3D0CB"/>
                </a:solidFill>
                <a:latin typeface="Pretendard"/>
                <a:ea typeface="Pretendard"/>
              </a:rPr>
              <a:t>기획 · UI · 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0400" y="2171700"/>
            <a:ext cx="44831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0" lang="en-US">
                <a:solidFill>
                  <a:srgbClr val="C3D0CB"/>
                </a:solidFill>
                <a:latin typeface="Pretendard"/>
                <a:ea typeface="Pretendard"/>
              </a:rPr>
              <a:t>Product · UI ·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8800" y="3022600"/>
            <a:ext cx="4572000" cy="2552700"/>
          </a:xfrm>
          <a:prstGeom prst="roundRect">
            <a:avLst>
              <a:gd name="adj" fmla="val 6467"/>
            </a:avLst>
          </a:prstGeom>
          <a:solidFill>
            <a:srgbClr val="203D3E"/>
          </a:solidFill>
          <a:ln w="12700">
            <a:solidFill>
              <a:srgbClr val="506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13600" y="3251200"/>
            <a:ext cx="39624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1" lang="en-US">
                <a:solidFill>
                  <a:srgbClr val="B9E5CE"/>
                </a:solidFill>
                <a:latin typeface="Pretendard"/>
                <a:ea typeface="Pretendard"/>
              </a:rPr>
              <a:t>UX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3600" y="3898900"/>
            <a:ext cx="3962400" cy="1346200"/>
          </a:xfrm>
          <a:prstGeom prst="roundRect">
            <a:avLst>
              <a:gd name="adj" fmla="val 7547"/>
            </a:avLst>
          </a:prstGeom>
          <a:solidFill>
            <a:srgbClr val="B9E5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3000" y="4076700"/>
            <a:ext cx="3390900" cy="5712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33"/>
              </a:lnSpc>
              <a:spcBef>
                <a:spcPts val="0"/>
              </a:spcBef>
              <a:spcAft>
                <a:spcPts val="0"/>
              </a:spcAft>
            </a:pPr>
            <a:r>
              <a:rPr sz="3100" b="1" lang="ko-KR">
                <a:solidFill>
                  <a:srgbClr val="172E30"/>
                </a:solidFill>
                <a:latin typeface="Pretendard"/>
                <a:ea typeface="Pretendard"/>
              </a:rPr>
              <a:t>빠른 반응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700" y="4686300"/>
            <a:ext cx="3390900" cy="5106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0" lang="en-US">
                <a:solidFill>
                  <a:srgbClr val="172E30"/>
                </a:solidFill>
                <a:latin typeface="Pretendard"/>
                <a:ea typeface="Pretendard"/>
              </a:rPr>
              <a:t>Responsiveness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536665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CORRECT. AND FAST.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04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508000"/>
            <a:ext cx="1107578" cy="359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38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536665"/>
                </a:solidFill>
                <a:latin typeface="Pretendard"/>
                <a:ea typeface="Pretendard"/>
              </a:rPr>
              <a:t>작동, 그다음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3878" y="520700"/>
            <a:ext cx="1532929" cy="343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3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536665"/>
                </a:solidFill>
                <a:latin typeface="Pretendard"/>
                <a:ea typeface="Pretendard"/>
              </a:rPr>
              <a:t>Beyond 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62100"/>
            <a:ext cx="5232400" cy="7075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9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172E30"/>
                </a:solidFill>
                <a:latin typeface="Pretendard"/>
                <a:ea typeface="Pretendard"/>
              </a:rPr>
              <a:t>작동을 넘어,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2374900"/>
            <a:ext cx="5143500" cy="15829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699"/>
              </a:lnSpc>
              <a:spcBef>
                <a:spcPts val="0"/>
              </a:spcBef>
              <a:spcAft>
                <a:spcPts val="0"/>
              </a:spcAft>
            </a:pPr>
            <a:r>
              <a:rPr sz="5000" b="1" lang="ko-KR">
                <a:solidFill>
                  <a:srgbClr val="BD452B"/>
                </a:solidFill>
                <a:latin typeface="Pretendard"/>
                <a:ea typeface="Pretendard"/>
              </a:rPr>
              <a:t>올바르고</a:t>
            </a:r>
          </a:p>
          <a:p>
            <a:pPr>
              <a:lnSpc>
                <a:spcPts val="5699"/>
              </a:lnSpc>
              <a:spcBef>
                <a:spcPts val="0"/>
              </a:spcBef>
              <a:spcAft>
                <a:spcPts val="0"/>
              </a:spcAft>
            </a:pPr>
            <a:r>
              <a:rPr sz="5000" b="1" lang="ko-KR">
                <a:solidFill>
                  <a:srgbClr val="BD452B"/>
                </a:solidFill>
                <a:latin typeface="Pretendard"/>
                <a:ea typeface="Pretendard"/>
              </a:rPr>
              <a:t>빠르게.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4330700"/>
            <a:ext cx="5105400" cy="959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15"/>
              </a:lnSpc>
              <a:spcBef>
                <a:spcPts val="0"/>
              </a:spcBef>
              <a:spcAft>
                <a:spcPts val="0"/>
              </a:spcAft>
            </a:pPr>
            <a:r>
              <a:rPr sz="2800" b="0" lang="en-US">
                <a:solidFill>
                  <a:srgbClr val="536665"/>
                </a:solidFill>
                <a:latin typeface="Pretendard"/>
                <a:ea typeface="Pretendard"/>
              </a:rPr>
              <a:t>It needs to work.</a:t>
            </a:r>
          </a:p>
          <a:p>
            <a:pPr>
              <a:lnSpc>
                <a:spcPts val="3415"/>
              </a:lnSpc>
              <a:spcBef>
                <a:spcPts val="0"/>
              </a:spcBef>
              <a:spcAft>
                <a:spcPts val="0"/>
              </a:spcAft>
            </a:pPr>
            <a:r>
              <a:rPr sz="2800" b="0" lang="en-US">
                <a:solidFill>
                  <a:srgbClr val="536665"/>
                </a:solidFill>
                <a:latin typeface="Pretendard"/>
                <a:ea typeface="Pretendard"/>
              </a:rPr>
              <a:t>Correctly. And fast.</a:t>
            </a:r>
          </a:p>
        </p:txBody>
      </p:sp>
      <p:pic>
        <p:nvPicPr>
          <p:cNvPr id="12" name="Picture 11" descr="pigeon-me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1348" y="1143000"/>
            <a:ext cx="4968502" cy="4978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536665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A SPEEDUP NEEDS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05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508000"/>
            <a:ext cx="1472120" cy="359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38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536665"/>
                </a:solidFill>
                <a:latin typeface="Pretendard"/>
                <a:ea typeface="Pretendard"/>
              </a:rPr>
              <a:t>성능 개선의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8420" y="520700"/>
            <a:ext cx="1844476" cy="343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3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536665"/>
                </a:solidFill>
                <a:latin typeface="Pretendard"/>
                <a:ea typeface="Pretendard"/>
              </a:rPr>
              <a:t>Verification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282700"/>
            <a:ext cx="10795000" cy="768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016"/>
              </a:lnSpc>
              <a:spcBef>
                <a:spcPts val="0"/>
              </a:spcBef>
              <a:spcAft>
                <a:spcPts val="0"/>
              </a:spcAft>
            </a:pPr>
            <a:r>
              <a:rPr sz="4400" b="1" lang="ko-KR">
                <a:solidFill>
                  <a:srgbClr val="172E30"/>
                </a:solidFill>
                <a:latin typeface="Pretendard"/>
                <a:ea typeface="Pretendard"/>
              </a:rPr>
              <a:t>빨라졌다면, 검증해야죠.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2095500"/>
            <a:ext cx="10795000" cy="5712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33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en-US">
                <a:solidFill>
                  <a:srgbClr val="536665"/>
                </a:solidFill>
                <a:latin typeface="Pretendard"/>
                <a:ea typeface="Pretendard"/>
              </a:rPr>
              <a:t>A speedup needs evidence.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200" y="3251200"/>
            <a:ext cx="4902200" cy="2667000"/>
          </a:xfrm>
          <a:prstGeom prst="roundRect">
            <a:avLst>
              <a:gd name="adj" fmla="val 5714"/>
            </a:avLst>
          </a:prstGeom>
          <a:solidFill>
            <a:srgbClr val="EE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78600" y="3251200"/>
            <a:ext cx="4902200" cy="2667000"/>
          </a:xfrm>
          <a:prstGeom prst="roundRect">
            <a:avLst>
              <a:gd name="adj" fmla="val 5714"/>
            </a:avLst>
          </a:prstGeom>
          <a:solidFill>
            <a:srgbClr val="E6E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6000" y="3530600"/>
            <a:ext cx="4318000" cy="5560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19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ko-KR">
                <a:solidFill>
                  <a:srgbClr val="172E30"/>
                </a:solidFill>
                <a:latin typeface="Pretendard"/>
                <a:ea typeface="Pretendard"/>
              </a:rPr>
              <a:t>로컬 측정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" y="4089400"/>
            <a:ext cx="43180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0" lang="en-US">
                <a:solidFill>
                  <a:srgbClr val="536665"/>
                </a:solidFill>
                <a:latin typeface="Pretendard"/>
                <a:ea typeface="Pretendard"/>
              </a:rPr>
              <a:t>Local benchmarks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16000" y="4648200"/>
            <a:ext cx="4292600" cy="0"/>
          </a:xfrm>
          <a:prstGeom prst="line">
            <a:avLst/>
          </a:prstGeom>
          <a:ln w="1270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28700" y="4889500"/>
            <a:ext cx="4318000" cy="480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9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ko-KR">
                <a:solidFill>
                  <a:srgbClr val="172E30"/>
                </a:solidFill>
                <a:latin typeface="Pretendard"/>
                <a:ea typeface="Pretendard"/>
              </a:rPr>
              <a:t>다른 작업이 측정에 간섭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" y="5384800"/>
            <a:ext cx="4318000" cy="480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9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en-US">
                <a:solidFill>
                  <a:srgbClr val="536665"/>
                </a:solidFill>
                <a:latin typeface="Pretendard"/>
                <a:ea typeface="Pretendard"/>
              </a:rPr>
              <a:t>Other work adds noise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3530600"/>
            <a:ext cx="4318000" cy="5560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19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ko-KR">
                <a:solidFill>
                  <a:srgbClr val="172E30"/>
                </a:solidFill>
                <a:latin typeface="Pretendard"/>
                <a:ea typeface="Pretendard"/>
              </a:rPr>
              <a:t>외부 실행 환경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6100" y="4089400"/>
            <a:ext cx="43180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0" lang="en-US">
                <a:solidFill>
                  <a:srgbClr val="536665"/>
                </a:solidFill>
                <a:latin typeface="Pretendard"/>
                <a:ea typeface="Pretendard"/>
              </a:rPr>
              <a:t>Remote execution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83400" y="4648200"/>
            <a:ext cx="4292600" cy="0"/>
          </a:xfrm>
          <a:prstGeom prst="line">
            <a:avLst/>
          </a:prstGeom>
          <a:ln w="1270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96100" y="4889500"/>
            <a:ext cx="4318000" cy="480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9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ko-KR">
                <a:solidFill>
                  <a:srgbClr val="172E30"/>
                </a:solidFill>
                <a:latin typeface="Pretendard"/>
                <a:ea typeface="Pretendard"/>
              </a:rPr>
              <a:t>검증하는 동안 개발 계속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6100" y="5384800"/>
            <a:ext cx="43180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Keep building as tests run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16600" y="4508500"/>
            <a:ext cx="508000" cy="0"/>
          </a:xfrm>
          <a:prstGeom prst="line">
            <a:avLst/>
          </a:prstGeom>
          <a:ln w="381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243717" y="4508500"/>
            <a:ext cx="80883" cy="61486"/>
          </a:xfrm>
          <a:prstGeom prst="line">
            <a:avLst/>
          </a:prstGeom>
          <a:ln w="381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6243717" y="4447013"/>
            <a:ext cx="80883" cy="61487"/>
          </a:xfrm>
          <a:prstGeom prst="line">
            <a:avLst/>
          </a:prstGeom>
          <a:ln w="381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536665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FROM SECURITY TO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06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508000"/>
            <a:ext cx="2031900" cy="359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38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536665"/>
                </a:solidFill>
                <a:latin typeface="Pretendard"/>
                <a:ea typeface="Pretendard"/>
              </a:rPr>
              <a:t>보안에는 익숙한 선택지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8200" y="520700"/>
            <a:ext cx="2344737" cy="343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3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536665"/>
                </a:solidFill>
                <a:latin typeface="Pretendard"/>
                <a:ea typeface="Pretendard"/>
              </a:rPr>
              <a:t>Familiar tools for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219200"/>
            <a:ext cx="10795000" cy="1405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016"/>
              </a:lnSpc>
              <a:spcBef>
                <a:spcPts val="0"/>
              </a:spcBef>
              <a:spcAft>
                <a:spcPts val="0"/>
              </a:spcAft>
            </a:pPr>
            <a:r>
              <a:rPr sz="4400" b="1" lang="ko-KR">
                <a:solidFill>
                  <a:srgbClr val="172E30"/>
                </a:solidFill>
                <a:latin typeface="Pretendard"/>
                <a:ea typeface="Pretendard"/>
              </a:rPr>
              <a:t>성능 최적화도</a:t>
            </a:r>
          </a:p>
          <a:p>
            <a:pPr>
              <a:lnSpc>
                <a:spcPts val="5016"/>
              </a:lnSpc>
              <a:spcBef>
                <a:spcPts val="0"/>
              </a:spcBef>
              <a:spcAft>
                <a:spcPts val="0"/>
              </a:spcAft>
            </a:pPr>
            <a:r>
              <a:rPr sz="4400" b="1" lang="ko-KR">
                <a:solidFill>
                  <a:srgbClr val="172E30"/>
                </a:solidFill>
                <a:latin typeface="Pretendard"/>
                <a:ea typeface="Pretendard"/>
              </a:rPr>
              <a:t>맡길 수 있을까요?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2921000"/>
            <a:ext cx="10795000" cy="5712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33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en-US">
                <a:solidFill>
                  <a:srgbClr val="536665"/>
                </a:solidFill>
                <a:latin typeface="Pretendard"/>
                <a:ea typeface="Pretendard"/>
              </a:rPr>
              <a:t>Can we delegate performance, too?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1200" y="4025900"/>
            <a:ext cx="10769600" cy="0"/>
          </a:xfrm>
          <a:prstGeom prst="line">
            <a:avLst/>
          </a:prstGeom>
          <a:ln w="1270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6600" y="4343400"/>
            <a:ext cx="51054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ko-KR">
                <a:solidFill>
                  <a:srgbClr val="536665"/>
                </a:solidFill>
                <a:latin typeface="Pretendard"/>
                <a:ea typeface="Pretendard"/>
              </a:rPr>
              <a:t>보안 검사와 수정 지원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5700" y="4368800"/>
            <a:ext cx="52578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Security checks &amp; fixes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00" y="5067300"/>
            <a:ext cx="3009900" cy="7075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9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en-US">
                <a:solidFill>
                  <a:srgbClr val="172E30"/>
                </a:solidFill>
                <a:latin typeface="Pretendard"/>
                <a:ea typeface="Pretendard"/>
              </a:rPr>
              <a:t>Strix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8500" y="5067300"/>
            <a:ext cx="2946400" cy="7075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9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en-US">
                <a:solidFill>
                  <a:srgbClr val="172E30"/>
                </a:solidFill>
                <a:latin typeface="Pretendard"/>
                <a:ea typeface="Pretendard"/>
              </a:rPr>
              <a:t>Snyk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6900" y="5067300"/>
            <a:ext cx="3263900" cy="7075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9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en-US">
                <a:solidFill>
                  <a:srgbClr val="172E30"/>
                </a:solidFill>
                <a:latin typeface="Pretendard"/>
                <a:ea typeface="Pretendard"/>
              </a:rPr>
              <a:t>Semgrep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D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3D5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C3D0CB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C3D0CB"/>
                </a:solidFill>
                <a:latin typeface="Pretendard"/>
                <a:ea typeface="Pretendard"/>
              </a:rPr>
              <a:t>BUILT WITH DAYTONA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C3D0CB"/>
                </a:solidFill>
                <a:latin typeface="Pretendard"/>
                <a:ea typeface="Pretendard"/>
              </a:rPr>
              <a:t>07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508000"/>
            <a:ext cx="1794073" cy="359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38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C3D0CB"/>
                </a:solidFill>
                <a:latin typeface="Pretendard"/>
                <a:ea typeface="Pretendard"/>
              </a:rPr>
              <a:t>그래서 만들었습니다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0373" y="520700"/>
            <a:ext cx="1096565" cy="343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3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C3D0CB"/>
                </a:solidFill>
                <a:latin typeface="Pretendard"/>
                <a:ea typeface="Pretendard"/>
              </a:rPr>
              <a:t>Introducing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308100"/>
            <a:ext cx="10820400" cy="1056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181"/>
              </a:lnSpc>
              <a:spcBef>
                <a:spcPts val="0"/>
              </a:spcBef>
              <a:spcAft>
                <a:spcPts val="0"/>
              </a:spcAft>
            </a:pPr>
            <a:r>
              <a:rPr sz="6300" b="1" lang="en-US">
                <a:solidFill>
                  <a:srgbClr val="F7F5EF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2705100"/>
            <a:ext cx="10795000" cy="6318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lang="ko-KR">
                <a:solidFill>
                  <a:srgbClr val="F7F5EF"/>
                </a:solidFill>
                <a:latin typeface="Pretendard"/>
                <a:ea typeface="Pretendard"/>
              </a:rPr>
              <a:t>Daytona 위에서.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300" y="3403600"/>
            <a:ext cx="10795000" cy="5409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5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en-US">
                <a:solidFill>
                  <a:srgbClr val="B9E5CE"/>
                </a:solidFill>
                <a:latin typeface="Pretendard"/>
                <a:ea typeface="Pretendard"/>
              </a:rPr>
              <a:t>Built with Daytona.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1200" y="4508500"/>
            <a:ext cx="3403600" cy="0"/>
          </a:xfrm>
          <a:prstGeom prst="line">
            <a:avLst/>
          </a:prstGeom>
          <a:ln w="13970">
            <a:solidFill>
              <a:srgbClr val="506C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1200" y="4838700"/>
            <a:ext cx="3429000" cy="525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ko-KR">
                <a:solidFill>
                  <a:srgbClr val="F7F5EF"/>
                </a:solidFill>
                <a:latin typeface="Pretendard"/>
                <a:ea typeface="Pretendard"/>
              </a:rPr>
              <a:t>쉬운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5397500"/>
            <a:ext cx="3416300" cy="480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9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en-US">
                <a:solidFill>
                  <a:srgbClr val="C3D0CB"/>
                </a:solidFill>
                <a:latin typeface="Pretendard"/>
                <a:ea typeface="Pretendard"/>
              </a:rPr>
              <a:t>Simple setup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94200" y="4508500"/>
            <a:ext cx="3403600" cy="0"/>
          </a:xfrm>
          <a:prstGeom prst="line">
            <a:avLst/>
          </a:prstGeom>
          <a:ln w="13970">
            <a:solidFill>
              <a:srgbClr val="506C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94200" y="4838700"/>
            <a:ext cx="3429000" cy="525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ko-KR">
                <a:solidFill>
                  <a:srgbClr val="F7F5EF"/>
                </a:solidFill>
                <a:latin typeface="Pretendard"/>
                <a:ea typeface="Pretendard"/>
              </a:rPr>
              <a:t>빠른 실행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6900" y="5397500"/>
            <a:ext cx="3416300" cy="480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9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en-US">
                <a:solidFill>
                  <a:srgbClr val="C3D0CB"/>
                </a:solidFill>
                <a:latin typeface="Pretendard"/>
                <a:ea typeface="Pretendard"/>
              </a:rPr>
              <a:t>Fast startup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77200" y="4508500"/>
            <a:ext cx="3403600" cy="0"/>
          </a:xfrm>
          <a:prstGeom prst="line">
            <a:avLst/>
          </a:prstGeom>
          <a:ln w="13970">
            <a:solidFill>
              <a:srgbClr val="506C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77200" y="4838700"/>
            <a:ext cx="3429000" cy="525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ko-KR">
                <a:solidFill>
                  <a:srgbClr val="F7F5EF"/>
                </a:solidFill>
                <a:latin typeface="Pretendard"/>
                <a:ea typeface="Pretendard"/>
              </a:rPr>
              <a:t>에이전트 중심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9900" y="5397500"/>
            <a:ext cx="3416300" cy="480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9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en-US">
                <a:solidFill>
                  <a:srgbClr val="C3D0CB"/>
                </a:solidFill>
                <a:latin typeface="Pretendard"/>
                <a:ea typeface="Pretendard"/>
              </a:rPr>
              <a:t>Built for agents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0579100" y="1892300"/>
            <a:ext cx="685800" cy="685800"/>
          </a:xfrm>
          <a:prstGeom prst="line">
            <a:avLst/>
          </a:prstGeom>
          <a:ln w="102870">
            <a:solidFill>
              <a:srgbClr val="F877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922000" y="1892300"/>
            <a:ext cx="342900" cy="0"/>
          </a:xfrm>
          <a:prstGeom prst="line">
            <a:avLst/>
          </a:prstGeom>
          <a:ln w="102870">
            <a:solidFill>
              <a:srgbClr val="F877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264900" y="1892300"/>
            <a:ext cx="0" cy="342900"/>
          </a:xfrm>
          <a:prstGeom prst="line">
            <a:avLst/>
          </a:prstGeom>
          <a:ln w="102870">
            <a:solidFill>
              <a:srgbClr val="F877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536665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EXPLORE · PLAN · EDIT ·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08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508000"/>
            <a:ext cx="1285527" cy="359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38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536665"/>
                </a:solidFill>
                <a:latin typeface="Pretendard"/>
                <a:ea typeface="Pretendard"/>
              </a:rPr>
              <a:t>실제로 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1827" y="520700"/>
            <a:ext cx="1245592" cy="343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3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536665"/>
                </a:solidFill>
                <a:latin typeface="Pretendard"/>
                <a:ea typeface="Pretendard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206500"/>
            <a:ext cx="10795000" cy="6924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445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ko-KR">
                <a:solidFill>
                  <a:srgbClr val="172E30"/>
                </a:solidFill>
                <a:latin typeface="Pretendard"/>
                <a:ea typeface="Pretendard"/>
              </a:rPr>
              <a:t>코드를 고치고, 병렬로 검증합니다.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1955800"/>
            <a:ext cx="10795000" cy="5560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19"/>
              </a:lnSpc>
              <a:spcBef>
                <a:spcPts val="0"/>
              </a:spcBef>
              <a:spcAft>
                <a:spcPts val="0"/>
              </a:spcAft>
            </a:pPr>
            <a:r>
              <a:rPr sz="3000" b="0" lang="en-US">
                <a:solidFill>
                  <a:srgbClr val="536665"/>
                </a:solidFill>
                <a:latin typeface="Pretendard"/>
                <a:ea typeface="Pretendard"/>
              </a:rPr>
              <a:t>Edit the code. Verify in parallel.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2946400"/>
            <a:ext cx="61214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1" lang="ko-KR">
                <a:solidFill>
                  <a:srgbClr val="172E30"/>
                </a:solidFill>
                <a:latin typeface="Pretendard"/>
                <a:ea typeface="Pretendard"/>
              </a:rPr>
              <a:t>하나의 AI 에이전트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3429000"/>
            <a:ext cx="61214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One project. One agent.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1200" y="4191000"/>
            <a:ext cx="2108200" cy="1422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CDD4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45000"/>
            <a:ext cx="18288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1" lang="ko-KR">
                <a:solidFill>
                  <a:srgbClr val="172E30"/>
                </a:solidFill>
                <a:latin typeface="Pretendard"/>
                <a:ea typeface="Pretendard"/>
              </a:rPr>
              <a:t>코드 탐색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100" y="4965700"/>
            <a:ext cx="18034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Explore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73400" y="4191000"/>
            <a:ext cx="2108200" cy="1422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CDD4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76600" y="4445000"/>
            <a:ext cx="18288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1" lang="ko-KR">
                <a:solidFill>
                  <a:srgbClr val="172E30"/>
                </a:solidFill>
                <a:latin typeface="Pretendard"/>
                <a:ea typeface="Pretendard"/>
              </a:rPr>
              <a:t>개선안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89300" y="4965700"/>
            <a:ext cx="18034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Plan a fix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35600" y="4191000"/>
            <a:ext cx="2108200" cy="1422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CDD4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38800" y="4445000"/>
            <a:ext cx="18288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1" lang="ko-KR">
                <a:solidFill>
                  <a:srgbClr val="172E30"/>
                </a:solidFill>
                <a:latin typeface="Pretendard"/>
                <a:ea typeface="Pretendard"/>
              </a:rPr>
              <a:t>직접 수정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51500" y="4965700"/>
            <a:ext cx="18034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Edit code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57500" y="4864100"/>
            <a:ext cx="152400" cy="0"/>
          </a:xfrm>
          <a:prstGeom prst="line">
            <a:avLst/>
          </a:prstGeom>
          <a:ln w="2286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969458" y="4864100"/>
            <a:ext cx="40442" cy="30743"/>
          </a:xfrm>
          <a:prstGeom prst="line">
            <a:avLst/>
          </a:prstGeom>
          <a:ln w="2286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2969458" y="4833356"/>
            <a:ext cx="40442" cy="30744"/>
          </a:xfrm>
          <a:prstGeom prst="line">
            <a:avLst/>
          </a:prstGeom>
          <a:ln w="2286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219700" y="4864100"/>
            <a:ext cx="165100" cy="0"/>
          </a:xfrm>
          <a:prstGeom prst="line">
            <a:avLst/>
          </a:prstGeom>
          <a:ln w="2286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5344358" y="4864100"/>
            <a:ext cx="40442" cy="30743"/>
          </a:xfrm>
          <a:prstGeom prst="line">
            <a:avLst/>
          </a:prstGeom>
          <a:ln w="2286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344358" y="4833356"/>
            <a:ext cx="40442" cy="30744"/>
          </a:xfrm>
          <a:prstGeom prst="line">
            <a:avLst/>
          </a:prstGeom>
          <a:ln w="2286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953500" y="2806700"/>
            <a:ext cx="2540000" cy="4954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63"/>
              </a:lnSpc>
              <a:spcBef>
                <a:spcPts val="0"/>
              </a:spcBef>
              <a:spcAft>
                <a:spcPts val="0"/>
              </a:spcAft>
            </a:pPr>
            <a:r>
              <a:rPr sz="2600" b="1" lang="en-US">
                <a:solidFill>
                  <a:srgbClr val="172E30"/>
                </a:solidFill>
                <a:latin typeface="Pretendard"/>
                <a:ea typeface="Pretendard"/>
              </a:rPr>
              <a:t>Daytona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0800" y="3302000"/>
            <a:ext cx="25527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ko-KR">
                <a:solidFill>
                  <a:srgbClr val="536665"/>
                </a:solidFill>
                <a:latin typeface="Pretendard"/>
                <a:ea typeface="Pretendard"/>
              </a:rPr>
              <a:t>병렬 검증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70800" y="4864100"/>
            <a:ext cx="457200" cy="0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28000" y="4051300"/>
            <a:ext cx="0" cy="1676400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128000" y="4051300"/>
            <a:ext cx="596900" cy="0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8664238" y="4051300"/>
            <a:ext cx="60662" cy="46115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8664238" y="4005184"/>
            <a:ext cx="60662" cy="46116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864600" y="3759200"/>
            <a:ext cx="2616200" cy="609600"/>
          </a:xfrm>
          <a:prstGeom prst="roundRect">
            <a:avLst>
              <a:gd name="adj" fmla="val 12500"/>
            </a:avLst>
          </a:prstGeom>
          <a:solidFill>
            <a:srgbClr val="E6EDE5"/>
          </a:solidFill>
          <a:ln w="12700">
            <a:solidFill>
              <a:srgbClr val="CDD4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6700" y="3886200"/>
            <a:ext cx="21209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en-US">
                <a:solidFill>
                  <a:srgbClr val="172E30"/>
                </a:solidFill>
                <a:latin typeface="Pretendard"/>
                <a:ea typeface="Pretendard"/>
              </a:rPr>
              <a:t>Before / After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128000" y="4889500"/>
            <a:ext cx="596900" cy="0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664238" y="4889500"/>
            <a:ext cx="60662" cy="46115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8664238" y="4843384"/>
            <a:ext cx="60662" cy="46116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864600" y="4597400"/>
            <a:ext cx="2616200" cy="609600"/>
          </a:xfrm>
          <a:prstGeom prst="roundRect">
            <a:avLst>
              <a:gd name="adj" fmla="val 12500"/>
            </a:avLst>
          </a:prstGeom>
          <a:solidFill>
            <a:srgbClr val="E6EDE5"/>
          </a:solidFill>
          <a:ln w="12700">
            <a:solidFill>
              <a:srgbClr val="CDD4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56700" y="4724400"/>
            <a:ext cx="21209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en-US">
                <a:solidFill>
                  <a:srgbClr val="172E30"/>
                </a:solidFill>
                <a:latin typeface="Pretendard"/>
                <a:ea typeface="Pretendard"/>
              </a:rPr>
              <a:t>Before / After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128000" y="5727700"/>
            <a:ext cx="596900" cy="0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8664238" y="5727700"/>
            <a:ext cx="60662" cy="46115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8664238" y="5681584"/>
            <a:ext cx="60662" cy="46116"/>
          </a:xfrm>
          <a:prstGeom prst="line">
            <a:avLst/>
          </a:prstGeom>
          <a:ln w="254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864600" y="5435600"/>
            <a:ext cx="2616200" cy="609600"/>
          </a:xfrm>
          <a:prstGeom prst="roundRect">
            <a:avLst>
              <a:gd name="adj" fmla="val 12500"/>
            </a:avLst>
          </a:prstGeom>
          <a:solidFill>
            <a:srgbClr val="E6EDE5"/>
          </a:solidFill>
          <a:ln w="12700">
            <a:solidFill>
              <a:srgbClr val="CDD4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56700" y="5562600"/>
            <a:ext cx="21209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en-US">
                <a:solidFill>
                  <a:srgbClr val="172E30"/>
                </a:solidFill>
                <a:latin typeface="Pretendard"/>
                <a:ea typeface="Pretendard"/>
              </a:rPr>
              <a:t>Before / After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90000" y="2387600"/>
            <a:ext cx="26289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ko-KR">
                <a:solidFill>
                  <a:srgbClr val="536665"/>
                </a:solidFill>
                <a:latin typeface="Pretendard"/>
                <a:ea typeface="Pretendard"/>
              </a:rPr>
              <a:t>수정 전후 비교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536665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A PROJECT IN. A PATCH AND EVIDENCE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09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508000"/>
            <a:ext cx="1285527" cy="359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38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536665"/>
                </a:solidFill>
                <a:latin typeface="Pretendard"/>
                <a:ea typeface="Pretendard"/>
              </a:rPr>
              <a:t>사용자가 할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1827" y="520700"/>
            <a:ext cx="908446" cy="343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3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536665"/>
                </a:solidFill>
                <a:latin typeface="Pretendard"/>
                <a:ea typeface="Pretendard"/>
              </a:rPr>
              <a:t>Your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206500"/>
            <a:ext cx="10795000" cy="137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02"/>
              </a:lnSpc>
              <a:spcBef>
                <a:spcPts val="0"/>
              </a:spcBef>
              <a:spcAft>
                <a:spcPts val="0"/>
              </a:spcAft>
            </a:pPr>
            <a:r>
              <a:rPr sz="4300" b="1" lang="ko-KR">
                <a:solidFill>
                  <a:srgbClr val="172E30"/>
                </a:solidFill>
                <a:latin typeface="Pretendard"/>
                <a:ea typeface="Pretendard"/>
              </a:rPr>
              <a:t>프로젝트를 맡기면,</a:t>
            </a:r>
          </a:p>
          <a:p>
            <a:pPr>
              <a:lnSpc>
                <a:spcPts val="4902"/>
              </a:lnSpc>
              <a:spcBef>
                <a:spcPts val="0"/>
              </a:spcBef>
              <a:spcAft>
                <a:spcPts val="0"/>
              </a:spcAft>
            </a:pPr>
            <a:r>
              <a:rPr sz="4300" b="1" lang="ko-KR">
                <a:solidFill>
                  <a:srgbClr val="172E30"/>
                </a:solidFill>
                <a:latin typeface="Pretendard"/>
                <a:ea typeface="Pretendard"/>
              </a:rPr>
              <a:t>최적화 결과가 돌아옵니다.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2870200"/>
            <a:ext cx="10756900" cy="982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en-US">
                <a:solidFill>
                  <a:srgbClr val="536665"/>
                </a:solidFill>
                <a:latin typeface="Pretendard"/>
                <a:ea typeface="Pretendard"/>
              </a:rPr>
              <a:t>Bring your project.</a:t>
            </a:r>
          </a:p>
          <a:p>
            <a:pPr>
              <a:lnSpc>
                <a:spcPts val="3479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en-US">
                <a:solidFill>
                  <a:srgbClr val="536665"/>
                </a:solidFill>
                <a:latin typeface="Pretendard"/>
                <a:ea typeface="Pretendard"/>
              </a:rPr>
              <a:t>Get the patch and the evidence.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200" y="4559300"/>
            <a:ext cx="3162300" cy="1384300"/>
          </a:xfrm>
          <a:prstGeom prst="roundRect">
            <a:avLst>
              <a:gd name="adj" fmla="val 8256"/>
            </a:avLst>
          </a:prstGeom>
          <a:solidFill>
            <a:srgbClr val="FFFFFF"/>
          </a:solidFill>
          <a:ln w="12700">
            <a:solidFill>
              <a:srgbClr val="CDD4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7900" y="4787900"/>
            <a:ext cx="2717800" cy="525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ko-KR">
                <a:solidFill>
                  <a:srgbClr val="172E30"/>
                </a:solidFill>
                <a:latin typeface="Pretendard"/>
                <a:ea typeface="Pretendard"/>
              </a:rPr>
              <a:t>프로젝트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5321300"/>
            <a:ext cx="27051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Add a project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40200" y="5245100"/>
            <a:ext cx="825500" cy="0"/>
          </a:xfrm>
          <a:prstGeom prst="line">
            <a:avLst/>
          </a:prstGeom>
          <a:ln w="381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874707" y="5245100"/>
            <a:ext cx="90993" cy="69172"/>
          </a:xfrm>
          <a:prstGeom prst="line">
            <a:avLst/>
          </a:prstGeom>
          <a:ln w="381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4874707" y="5175927"/>
            <a:ext cx="90993" cy="69173"/>
          </a:xfrm>
          <a:prstGeom prst="line">
            <a:avLst/>
          </a:prstGeom>
          <a:ln w="38100">
            <a:solidFill>
              <a:srgbClr val="BD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83200" y="4559300"/>
            <a:ext cx="2921000" cy="1384300"/>
          </a:xfrm>
          <a:prstGeom prst="roundRect">
            <a:avLst>
              <a:gd name="adj" fmla="val 8256"/>
            </a:avLst>
          </a:prstGeom>
          <a:solidFill>
            <a:srgbClr val="E6E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62600" y="4787900"/>
            <a:ext cx="2400300" cy="525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ko-KR">
                <a:solidFill>
                  <a:srgbClr val="172E30"/>
                </a:solidFill>
                <a:latin typeface="Pretendard"/>
                <a:ea typeface="Pretendard"/>
              </a:rPr>
              <a:t>수정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5300" y="5321300"/>
            <a:ext cx="23876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Patch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59800" y="4559300"/>
            <a:ext cx="2921000" cy="1384300"/>
          </a:xfrm>
          <a:prstGeom prst="roundRect">
            <a:avLst>
              <a:gd name="adj" fmla="val 8256"/>
            </a:avLst>
          </a:prstGeom>
          <a:solidFill>
            <a:srgbClr val="E6E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39200" y="4787900"/>
            <a:ext cx="2400300" cy="525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ko-KR">
                <a:solidFill>
                  <a:srgbClr val="172E30"/>
                </a:solidFill>
                <a:latin typeface="Pretendard"/>
                <a:ea typeface="Pretendard"/>
              </a:rPr>
              <a:t>검증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1900" y="5321300"/>
            <a:ext cx="23876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Evidence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536665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MARKET &amp; 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536665"/>
                </a:solidFill>
                <a:latin typeface="Pretendard"/>
                <a:ea typeface="Pretendard"/>
              </a:rPr>
              <a:t>10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508000"/>
            <a:ext cx="809873" cy="359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38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536665"/>
                </a:solidFill>
                <a:latin typeface="Pretendard"/>
                <a:ea typeface="Pretendard"/>
              </a:rPr>
              <a:t>비즈니스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6173" y="520700"/>
            <a:ext cx="873720" cy="343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3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536665"/>
                </a:solidFill>
                <a:latin typeface="Pretendard"/>
                <a:ea typeface="Pretendard"/>
              </a:rPr>
              <a:t>Business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206500"/>
            <a:ext cx="10795000" cy="7530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02"/>
              </a:lnSpc>
              <a:spcBef>
                <a:spcPts val="0"/>
              </a:spcBef>
              <a:spcAft>
                <a:spcPts val="0"/>
              </a:spcAft>
            </a:pPr>
            <a:r>
              <a:rPr sz="4300" b="1" lang="ko-KR">
                <a:solidFill>
                  <a:srgbClr val="172E30"/>
                </a:solidFill>
                <a:latin typeface="Pretendard"/>
                <a:ea typeface="Pretendard"/>
              </a:rPr>
              <a:t>시장과 수익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2032000"/>
            <a:ext cx="10756900" cy="5560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19"/>
              </a:lnSpc>
              <a:spcBef>
                <a:spcPts val="0"/>
              </a:spcBef>
              <a:spcAft>
                <a:spcPts val="0"/>
              </a:spcAft>
            </a:pPr>
            <a:r>
              <a:rPr sz="3000" b="0" lang="en-US">
                <a:solidFill>
                  <a:srgbClr val="536665"/>
                </a:solidFill>
                <a:latin typeface="Pretendard"/>
                <a:ea typeface="Pretendard"/>
              </a:rPr>
              <a:t>Market &amp; business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200" y="3086100"/>
            <a:ext cx="5118100" cy="28956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DD4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9500" y="3086100"/>
            <a:ext cx="5321300" cy="2895600"/>
          </a:xfrm>
          <a:prstGeom prst="roundRect">
            <a:avLst>
              <a:gd name="adj" fmla="val 5263"/>
            </a:avLst>
          </a:prstGeom>
          <a:solidFill>
            <a:srgbClr val="E6E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6000" y="3314700"/>
            <a:ext cx="45339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536665"/>
                </a:solidFill>
                <a:latin typeface="Pretendard"/>
                <a:ea typeface="Pretendard"/>
              </a:rPr>
              <a:t>초기 타깃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340100"/>
            <a:ext cx="21209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Initial market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4000500"/>
            <a:ext cx="4533900" cy="986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ko-KR">
                <a:solidFill>
                  <a:srgbClr val="172E30"/>
                </a:solidFill>
                <a:latin typeface="Pretendard"/>
                <a:ea typeface="Pretendard"/>
              </a:rPr>
              <a:t>시스템·네이티브</a:t>
            </a:r>
          </a:p>
          <a:p>
            <a:pPr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ko-KR">
                <a:solidFill>
                  <a:srgbClr val="172E30"/>
                </a:solidFill>
                <a:latin typeface="Pretendard"/>
                <a:ea typeface="Pretendard"/>
              </a:rPr>
              <a:t>소프트웨어 개발팀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" y="5105400"/>
            <a:ext cx="4533900" cy="8126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Systems &amp; native</a:t>
            </a:r>
          </a:p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software teams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300" y="3340100"/>
            <a:ext cx="4699000" cy="662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218"/>
              </a:lnSpc>
              <a:spcBef>
                <a:spcPts val="0"/>
              </a:spcBef>
              <a:spcAft>
                <a:spcPts val="0"/>
              </a:spcAft>
            </a:pPr>
            <a:r>
              <a:rPr sz="3700" b="1" lang="ko-KR">
                <a:solidFill>
                  <a:srgbClr val="BD452B"/>
                </a:solidFill>
                <a:latin typeface="Pretendard"/>
                <a:ea typeface="Pretendard"/>
              </a:rPr>
              <a:t>크레딧 충전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700" y="4064000"/>
            <a:ext cx="4686300" cy="525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en-US">
                <a:solidFill>
                  <a:srgbClr val="172E30"/>
                </a:solidFill>
                <a:latin typeface="Pretendard"/>
                <a:ea typeface="Pretendard"/>
              </a:rPr>
              <a:t>Prepaid credits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77000" y="4711700"/>
            <a:ext cx="4673600" cy="0"/>
          </a:xfrm>
          <a:prstGeom prst="line">
            <a:avLst/>
          </a:prstGeom>
          <a:ln w="12700">
            <a:solidFill>
              <a:srgbClr val="CDD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77000" y="4978400"/>
            <a:ext cx="4699000" cy="480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9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ko-KR">
                <a:solidFill>
                  <a:srgbClr val="172E30"/>
                </a:solidFill>
                <a:latin typeface="Pretendard"/>
                <a:ea typeface="Pretendard"/>
              </a:rPr>
              <a:t>최적화·검증 사용량만큼 차감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9700" y="5511800"/>
            <a:ext cx="46863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536665"/>
                </a:solidFill>
                <a:latin typeface="Pretendard"/>
                <a:ea typeface="Pretendard"/>
              </a:rPr>
              <a:t>Pay for optimization &amp; verification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D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DEMO_QR_TOP_RIGHT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203200"/>
            <a:ext cx="1371600" cy="13716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711200" y="6273800"/>
            <a:ext cx="10769600" cy="0"/>
          </a:xfrm>
          <a:prstGeom prst="line">
            <a:avLst/>
          </a:prstGeom>
          <a:ln w="10160">
            <a:solidFill>
              <a:srgbClr val="3D56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1200" y="6451600"/>
            <a:ext cx="3327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en-US">
                <a:solidFill>
                  <a:srgbClr val="C3D0CB"/>
                </a:solidFill>
                <a:latin typeface="Pretendard"/>
                <a:ea typeface="Pretendard"/>
              </a:rPr>
              <a:t>AGENTICROCKET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0400" y="6451600"/>
            <a:ext cx="51054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C3D0CB"/>
                </a:solidFill>
                <a:latin typeface="Pretendard"/>
                <a:ea typeface="Pretendard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850900" cy="253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39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en-US">
                <a:solidFill>
                  <a:srgbClr val="C3D0CB"/>
                </a:solidFill>
                <a:latin typeface="Pretendard"/>
                <a:ea typeface="Pretendard"/>
              </a:rPr>
              <a:t>11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508000"/>
            <a:ext cx="861107" cy="359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38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C3D0CB"/>
                </a:solidFill>
                <a:latin typeface="Pretendard"/>
                <a:ea typeface="Pretendard"/>
              </a:rPr>
              <a:t>실제 데모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407" y="520700"/>
            <a:ext cx="1004093" cy="343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3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C3D0CB"/>
                </a:solidFill>
                <a:latin typeface="Pretendard"/>
                <a:ea typeface="Pretendard"/>
              </a:rPr>
              <a:t>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689100"/>
            <a:ext cx="5575300" cy="14163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104"/>
              </a:lnSpc>
              <a:spcBef>
                <a:spcPts val="0"/>
              </a:spcBef>
              <a:spcAft>
                <a:spcPts val="0"/>
              </a:spcAft>
            </a:pPr>
            <a:r>
              <a:rPr sz="4400" b="1" lang="ko-KR">
                <a:solidFill>
                  <a:srgbClr val="F7F5EF"/>
                </a:solidFill>
                <a:latin typeface="Pretendard"/>
                <a:ea typeface="Pretendard"/>
              </a:rPr>
              <a:t>실제 데모를</a:t>
            </a:r>
          </a:p>
          <a:p>
            <a:pPr>
              <a:lnSpc>
                <a:spcPts val="5104"/>
              </a:lnSpc>
              <a:spcBef>
                <a:spcPts val="0"/>
              </a:spcBef>
              <a:spcAft>
                <a:spcPts val="0"/>
              </a:spcAft>
            </a:pPr>
            <a:r>
              <a:rPr sz="4400" b="1" lang="ko-KR">
                <a:solidFill>
                  <a:srgbClr val="F7F5EF"/>
                </a:solidFill>
                <a:latin typeface="Pretendard"/>
                <a:ea typeface="Pretendard"/>
              </a:rPr>
              <a:t>보시겠습니다.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300" y="3454400"/>
            <a:ext cx="5537200" cy="1087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27"/>
              </a:lnSpc>
              <a:spcBef>
                <a:spcPts val="0"/>
              </a:spcBef>
              <a:spcAft>
                <a:spcPts val="0"/>
              </a:spcAft>
            </a:pPr>
            <a:r>
              <a:rPr sz="3300" b="0" lang="en-US">
                <a:solidFill>
                  <a:srgbClr val="B9E5CE"/>
                </a:solidFill>
                <a:latin typeface="Pretendard"/>
                <a:ea typeface="Pretendard"/>
              </a:rPr>
              <a:t>Let’s see it</a:t>
            </a:r>
          </a:p>
          <a:p>
            <a:pPr>
              <a:lnSpc>
                <a:spcPts val="3827"/>
              </a:lnSpc>
              <a:spcBef>
                <a:spcPts val="0"/>
              </a:spcBef>
              <a:spcAft>
                <a:spcPts val="0"/>
              </a:spcAft>
            </a:pPr>
            <a:r>
              <a:rPr sz="3300" b="0" lang="en-US">
                <a:solidFill>
                  <a:srgbClr val="B9E5CE"/>
                </a:solidFill>
                <a:latin typeface="Pretendard"/>
                <a:ea typeface="Pretendard"/>
              </a:rPr>
              <a:t>in action.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300" y="5194300"/>
            <a:ext cx="5537200" cy="4803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9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ko-KR">
                <a:solidFill>
                  <a:srgbClr val="C3D0CB"/>
                </a:solidFill>
                <a:latin typeface="Pretendard"/>
                <a:ea typeface="Pretendard"/>
              </a:rPr>
              <a:t>QR로 바로 접속하세요.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715000"/>
            <a:ext cx="55245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C3D0CB"/>
                </a:solidFill>
                <a:latin typeface="Pretendard"/>
                <a:ea typeface="Pretendard"/>
              </a:rPr>
              <a:t>Scan to open the demo.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5500" y="1155700"/>
            <a:ext cx="16129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7F5EF"/>
                </a:solidFill>
                <a:latin typeface="Pretendard"/>
                <a:ea typeface="Pretendard"/>
              </a:rPr>
              <a:t>데모 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0" y="1181100"/>
            <a:ext cx="16510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en-US">
                <a:solidFill>
                  <a:srgbClr val="B9E5CE"/>
                </a:solidFill>
                <a:latin typeface="Pretendard"/>
                <a:ea typeface="Pretendard"/>
              </a:rPr>
              <a:t>Open demo</a:t>
            </a:r>
          </a:p>
        </p:txBody>
      </p:sp>
      <p:pic>
        <p:nvPicPr>
          <p:cNvPr id="15" name="Picture 14" descr="demo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500" y="1727200"/>
            <a:ext cx="4013200" cy="4013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39000" y="5829300"/>
            <a:ext cx="3949700" cy="4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en-US">
                <a:solidFill>
                  <a:srgbClr val="C3D0CB"/>
                </a:solidFill>
                <a:latin typeface="Pretendard"/>
                <a:ea typeface="Pretendard"/>
              </a:rPr>
              <a:t>jungwuk.jungwuk.com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AgenticRocket — 3-minute bilingual pitch</dc:title>
  <dc:subject>AI low-level performance optimization</dc:subject>
  <dc:creator>AgenticRocket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